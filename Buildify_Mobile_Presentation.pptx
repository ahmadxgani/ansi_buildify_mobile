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1" roundtripDataSignature="AMtx7mh27gZkuPV4nGvtwzx71MQomsAr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1" Type="http://customschemas.google.com/relationships/presentationmetadata" Target="meta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Attachment: Toko Bangunan Buildify.docx.md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Attachment: Toko Bangunan Buildify.docx.md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Attachment: Toko Bangunan Buildify.docx.md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42" name="Google Shape;4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Attachment: Toko Bangunan Buildify.docx.md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68" name="Google Shape;68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Attachment: Toko Bangunan Buildify.docx.md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85" name="Google Shape;85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Attachment: Toko Bangunan Buildify.docx.md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105" name="Google Shape;10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Attachment: Toko Bangunan Buildify.docx.md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126" name="Google Shape;12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Attachment: Toko Bangunan Buildify.docx.md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140" name="Google Shape;14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Attachment: Toko Bangunan Buildify.docx.md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156" name="Google Shape;15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Attachment: Toko Bangunan Buildify.docx.md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166" name="Google Shape;16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ae6aab287_0_1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bae6aab287_0_1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Attachment: Toko Bangunan Buildify.docx.md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176" name="Google Shape;176;g3bae6aab287_0_1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ae6aab287_0_1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bae6aab287_0_1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Attachment: Toko Bangunan Buildify.docx.md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186" name="Google Shape;186;g3bae6aab287_0_1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ae6aab287_0_1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bae6aab287_0_1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Attachment: Toko Bangunan Buildify.docx.md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196" name="Google Shape;196;g3bae6aab287_0_1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ae6aab287_0_1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bae6aab287_0_1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Attachment: Toko Bangunan Buildify.docx.md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206" name="Google Shape;206;g3bae6aab287_0_1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bae6aab287_0_1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bae6aab287_0_1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Attachment: Toko Bangunan Buildify.docx.md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217" name="Google Shape;217;g3bae6aab287_0_1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ae6aab287_0_1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bae6aab287_0_1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Attachment: Toko Bangunan Buildify.docx.md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227" name="Google Shape;227;g3bae6aab287_0_1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bae6aab287_0_2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bae6aab287_0_2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Attachment: Toko Bangunan Buildify.docx.md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237" name="Google Shape;237;g3bae6aab287_0_2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bae6aab287_0_2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bae6aab287_0_2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Attachment: Toko Bangunan Buildify.docx.md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247" name="Google Shape;247;g3bae6aab287_0_2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b949c46ac8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g3b949c46ac8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Attachment: Toko Bangunan Buildify.docx.md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257" name="Google Shape;257;g3b949c46ac8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b949c46ac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b949c46ac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Attachment: Toko Bangunan Buildify.docx.md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267" name="Google Shape;267;g3b949c46ac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b949c46ac8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g3b949c46ac8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Attachment: Toko Bangunan Buildify.docx.md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277" name="Google Shape;277;g3b949c46ac8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b949c46ac8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3b949c46ac8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Attachment: Toko Bangunan Buildify.docx.md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287" name="Google Shape;287;g3b949c46ac8_0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b951407e4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3b951407e4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Attachment: Toko Bangunan Buildify.docx.md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297" name="Google Shape;297;g3b951407e4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bae6aab287_0_2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g3bae6aab287_0_2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Attachment: Toko Bangunan Buildify.docx.md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307" name="Google Shape;307;g3bae6aab287_0_2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bae6aab287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g3bae6aab287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Attachment: Toko Bangunan Buildify.docx.md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317" name="Google Shape;317;g3bae6aab287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bae6aab287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3bae6aab287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Attachment: Toko Bangunan Buildify.docx.md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329" name="Google Shape;329;g3bae6aab287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bae6aab287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g3bae6aab287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Attachment: Toko Bangunan Buildify.docx.md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339" name="Google Shape;339;g3bae6aab287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bb66bd232d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g3bb66bd232d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Attachment: Toko Bangunan Buildify.docx.md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350" name="Google Shape;350;g3bb66bd232d_4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bae6aab287_0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g3bae6aab287_0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Attachment: Toko Bangunan Buildify.docx.md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361" name="Google Shape;361;g3bae6aab287_0_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bae6aab287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g3bae6aab287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Attachment: Toko Bangunan Buildify.docx.md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372" name="Google Shape;372;g3bae6aab287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bae6aab287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g3bae6aab287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Attachment: Toko Bangunan Buildify.docx.md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383" name="Google Shape;383;g3bae6aab287_0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bae6aab287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g3bae6aab287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Attachment: Toko Bangunan Buildify.docx.md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394" name="Google Shape;394;g3bae6aab287_0_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bae6aab287_0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g3bae6aab287_0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Attachment: Toko Bangunan Buildify.docx.md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404" name="Google Shape;404;g3bae6aab287_0_1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bae6aab287_0_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g3bae6aab287_0_1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Attachment: Toko Bangunan Buildify.docx.md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414" name="Google Shape;414;g3bae6aab287_0_1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bae6aab287_0_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g3bae6aab287_0_1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Attachment: Toko Bangunan Buildify.docx.md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425" name="Google Shape;425;g3bae6aab287_0_1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Attachment: Toko Bangunan Buildify.docx.md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r>
              <a:rPr lang="en-US"/>
              <a:t>  </a:t>
            </a:r>
            <a:endParaRPr/>
          </a:p>
        </p:txBody>
      </p:sp>
      <p:sp>
        <p:nvSpPr>
          <p:cNvPr id="436" name="Google Shape;43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Relationship Id="rId4" Type="http://schemas.openxmlformats.org/officeDocument/2006/relationships/image" Target="../media/image1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jpg"/><Relationship Id="rId4" Type="http://schemas.openxmlformats.org/officeDocument/2006/relationships/image" Target="../media/image25.jpg"/><Relationship Id="rId5" Type="http://schemas.openxmlformats.org/officeDocument/2006/relationships/image" Target="../media/image30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jpg"/><Relationship Id="rId4" Type="http://schemas.openxmlformats.org/officeDocument/2006/relationships/image" Target="../media/image26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jpg"/><Relationship Id="rId4" Type="http://schemas.openxmlformats.org/officeDocument/2006/relationships/image" Target="../media/image24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2.jpg"/><Relationship Id="rId4" Type="http://schemas.openxmlformats.org/officeDocument/2006/relationships/image" Target="../media/image28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3.jpg"/><Relationship Id="rId4" Type="http://schemas.openxmlformats.org/officeDocument/2006/relationships/image" Target="../media/image37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6.jpg"/><Relationship Id="rId4" Type="http://schemas.openxmlformats.org/officeDocument/2006/relationships/image" Target="../media/image29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0.jpg"/><Relationship Id="rId4" Type="http://schemas.openxmlformats.org/officeDocument/2006/relationships/image" Target="../media/image38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Relationship Id="rId4" Type="http://schemas.openxmlformats.org/officeDocument/2006/relationships/image" Target="../media/image3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8B1452"/>
          </a:solidFill>
          <a:ln cap="flat" cmpd="sng" w="12700">
            <a:solidFill>
              <a:srgbClr val="8B14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buildify_imgs/image1.png"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000" y="685800"/>
            <a:ext cx="319168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4663440" y="1097280"/>
            <a:ext cx="7223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Buildify Mobile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663440" y="1874520"/>
            <a:ext cx="7223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Aplikasi Pelayanan &amp; Informasi Toko Bangunan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663440" y="2377440"/>
            <a:ext cx="4114800" cy="310896"/>
          </a:xfrm>
          <a:prstGeom prst="roundRect">
            <a:avLst>
              <a:gd fmla="val 16667" name="adj"/>
            </a:avLst>
          </a:prstGeom>
          <a:solidFill>
            <a:srgbClr val="FCE7F3"/>
          </a:solidFill>
          <a:ln cap="flat" cmpd="sng" w="12700">
            <a:solidFill>
              <a:srgbClr val="FB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4828032" y="2432304"/>
            <a:ext cx="37856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45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1452"/>
                </a:solidFill>
                <a:latin typeface="Calibri"/>
                <a:ea typeface="Calibri"/>
                <a:cs typeface="Calibri"/>
                <a:sym typeface="Calibri"/>
              </a:rPr>
              <a:t>Kelompok 1 SI24E • S1 Sistem Informasi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663440" y="2788920"/>
            <a:ext cx="4114800" cy="310896"/>
          </a:xfrm>
          <a:prstGeom prst="roundRect">
            <a:avLst>
              <a:gd fmla="val 16667" name="adj"/>
            </a:avLst>
          </a:prstGeom>
          <a:solidFill>
            <a:srgbClr val="FCE7F3"/>
          </a:solidFill>
          <a:ln cap="flat" cmpd="sng" w="12700">
            <a:solidFill>
              <a:srgbClr val="FB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4828032" y="2843784"/>
            <a:ext cx="378561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45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1452"/>
                </a:solidFill>
                <a:latin typeface="Calibri"/>
                <a:ea typeface="Calibri"/>
                <a:cs typeface="Calibri"/>
                <a:sym typeface="Calibri"/>
              </a:rPr>
              <a:t>Universitas Nusa Putra • 2024/2025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663440" y="3383280"/>
            <a:ext cx="7223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Ahmad Gani • Gita Anisa Salsabila • Denta Haikal Padila • Nauval Aditya • Eno Qori Nurani S • Radina Rachma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B1452"/>
          </a:solidFill>
          <a:ln cap="flat" cmpd="sng" w="12700">
            <a:solidFill>
              <a:srgbClr val="8B14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594350" y="3"/>
            <a:ext cx="11003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Latar Belakang &amp; Tujuan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94360" y="310896"/>
            <a:ext cx="1100297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7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DE7F3"/>
                </a:solidFill>
                <a:latin typeface="Calibri"/>
                <a:ea typeface="Calibri"/>
                <a:cs typeface="Calibri"/>
                <a:sym typeface="Calibri"/>
              </a:rPr>
              <a:t>Mengapa Buildify Mobile dibuat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94360" y="822960"/>
            <a:ext cx="5715000" cy="5394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914400" y="10058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Ringkasan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005850" y="1463075"/>
            <a:ext cx="5303400" cy="19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2540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Aplikasi Android untuk informasi material bangunan: produk, harga, stok, dan layanan penjualan.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Mendukung pemesanan material secara online agar pengguna tidak perlu datang langsung ke toko.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Memberikan akses cepat, akurat, dan mudah diakses kapan saja.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537960" y="822960"/>
            <a:ext cx="5074920" cy="5394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" name="Google Shape;38;p2" title="use case diagra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9350" y="685611"/>
            <a:ext cx="5715000" cy="58818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B1452"/>
          </a:solidFill>
          <a:ln cap="flat" cmpd="sng" w="12700">
            <a:solidFill>
              <a:srgbClr val="8B14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594350" y="0"/>
            <a:ext cx="11003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Lingkup Sistem &amp; Pengguna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594360" y="310896"/>
            <a:ext cx="1100297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7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DE7F3"/>
                </a:solidFill>
                <a:latin typeface="Calibri"/>
                <a:ea typeface="Calibri"/>
                <a:cs typeface="Calibri"/>
                <a:sym typeface="Calibri"/>
              </a:rPr>
              <a:t>Siapa pengguna dan apa yang dicakup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594360" y="822960"/>
            <a:ext cx="5715000" cy="2560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914400" y="100584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Lingkup Utama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1005850" y="1417326"/>
            <a:ext cx="5303400" cy="14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38125" lvl="0" marL="238125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Katalog produk material bangunan (kategori, pencarian, detail, stok).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8125" lvl="0" marL="238125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Keranjang belanja, checkout, dan riwayat transaksi.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8125" lvl="0" marL="238125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Integrasi ongkir &amp; tracking (API logistik) serta pembayaran non-tunai (payment gateway).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594350" y="3520451"/>
            <a:ext cx="5715000" cy="3003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914400" y="370332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Karakteristik Pengguna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1005850" y="4114800"/>
            <a:ext cx="5303400" cy="133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38125" lvl="0" marL="238125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Customer: menelusuri katalog &amp; bertransaksi.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8125" lvl="0" marL="238125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Admin (mode mobile): kelola produk/kategori, pesanan, pengiriman, dan laporan.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6537950" y="822949"/>
            <a:ext cx="5074800" cy="5701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6812280" y="10058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Integrasi Eksternal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6903720" y="1508760"/>
            <a:ext cx="4343400" cy="685800"/>
          </a:xfrm>
          <a:prstGeom prst="roundRect">
            <a:avLst>
              <a:gd fmla="val 16667" name="adj"/>
            </a:avLst>
          </a:prstGeom>
          <a:solidFill>
            <a:srgbClr val="E0F2FE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7086600" y="1673352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Aplikasi Android (Buildify Mobile)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6903720" y="2514600"/>
            <a:ext cx="4343400" cy="68580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7086600" y="2679192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Backend API (PHP)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903720" y="3520440"/>
            <a:ext cx="4343400" cy="685800"/>
          </a:xfrm>
          <a:prstGeom prst="roundRect">
            <a:avLst>
              <a:gd fmla="val 16667" name="adj"/>
            </a:avLst>
          </a:prstGeom>
          <a:solidFill>
            <a:srgbClr val="FEF3C7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7086600" y="3685032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Database (MySQL)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6903720" y="4526280"/>
            <a:ext cx="4343400" cy="685800"/>
          </a:xfrm>
          <a:prstGeom prst="roundRect">
            <a:avLst>
              <a:gd fmla="val 16667" name="adj"/>
            </a:avLst>
          </a:prstGeom>
          <a:solidFill>
            <a:srgbClr val="FCE7F3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7086600" y="4690872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Payment Gateway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903720" y="5532120"/>
            <a:ext cx="4343400" cy="685800"/>
          </a:xfrm>
          <a:prstGeom prst="roundRect">
            <a:avLst>
              <a:gd fmla="val 16667" name="adj"/>
            </a:avLst>
          </a:prstGeom>
          <a:solidFill>
            <a:srgbClr val="EDE9FE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7086600" y="5696712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API Logistik (Ongkir &amp; Tracking)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8B1452"/>
          </a:solidFill>
          <a:ln cap="flat" cmpd="sng" w="12700">
            <a:solidFill>
              <a:srgbClr val="8B14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594350" y="3"/>
            <a:ext cx="11003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Kebutuhan Fungsional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594360" y="310896"/>
            <a:ext cx="1100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7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DE7F3"/>
                </a:solidFill>
                <a:latin typeface="Calibri"/>
                <a:ea typeface="Calibri"/>
                <a:cs typeface="Calibri"/>
                <a:sym typeface="Calibri"/>
              </a:rPr>
              <a:t>Fitur prioritas Must &amp; Optional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594360" y="822960"/>
            <a:ext cx="6309300" cy="5394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914400" y="1005840"/>
            <a:ext cx="5669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Must (Prioritas Utama)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005850" y="1417326"/>
            <a:ext cx="5898000" cy="16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38125" lvl="0" marL="238125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Register, login, logout.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8125" lvl="0" marL="238125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Halaman utama/katalog produk + detail produk.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8125" lvl="0" marL="238125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Penyimpanan data: akun, profil &amp; alamat, produk, pesanan, pembayaran, transaksi.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8125" lvl="0" marL="238125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Perhitungan total pesanan (barang + ongkir) &amp; cek ketersediaan stok.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8125" lvl="0" marL="238125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Laporan transaksi &amp; riwayat pembelian.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7086600" y="822960"/>
            <a:ext cx="4526400" cy="2011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7360920" y="1005840"/>
            <a:ext cx="3977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Optional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7360925" y="1417324"/>
            <a:ext cx="39777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38125" lvl="0" marL="238125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Chat </a:t>
            </a:r>
            <a:r>
              <a:rPr lang="en-US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engan admin.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7086600" y="2971800"/>
            <a:ext cx="4526400" cy="324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7360920" y="3154680"/>
            <a:ext cx="3977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Batasan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7360925" y="3566150"/>
            <a:ext cx="3977700" cy="12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06375" lvl="0" marL="206375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Butuh koneksi internet; customer harus mendaftar untuk login.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6375" lvl="0" marL="206375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Password kombinasi huruf &amp; angka; 3x salah → akun terkunci (hubungi admin).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8B1452"/>
          </a:solidFill>
          <a:ln cap="flat" cmpd="sng" w="12700">
            <a:solidFill>
              <a:srgbClr val="8B14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594350" y="2"/>
            <a:ext cx="11003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Kebutuhan Non-Fungsional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594360" y="310896"/>
            <a:ext cx="1100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7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DE7F3"/>
                </a:solidFill>
                <a:latin typeface="Calibri"/>
                <a:ea typeface="Calibri"/>
                <a:cs typeface="Calibri"/>
                <a:sym typeface="Calibri"/>
              </a:rPr>
              <a:t>UI • Kinerja • Ketersediaan • Keamanan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594360" y="822960"/>
            <a:ext cx="5318700" cy="251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868680" y="1005840"/>
            <a:ext cx="477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User Interface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914400" y="1417320"/>
            <a:ext cx="4678500" cy="5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2250" lvl="0" marL="22225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Tampilan mudah dipahami (Must).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6278728" y="822960"/>
            <a:ext cx="5318700" cy="251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6553048" y="1005840"/>
            <a:ext cx="477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Kinerja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598768" y="1417320"/>
            <a:ext cx="4678500" cy="73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2250" lvl="0" marL="22225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Waktu perpindahan halaman ≤ 3 detik (Optional).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2225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Fitur aplikasi berjalan sesuai fungsinya (Must).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594360" y="3703320"/>
            <a:ext cx="5318700" cy="251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868680" y="3886200"/>
            <a:ext cx="477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Ketersediaan &amp; Keandalan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914400" y="4297680"/>
            <a:ext cx="4678500" cy="11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2250" lvl="0" marL="22225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Support smartphone (</a:t>
            </a:r>
            <a:r>
              <a:rPr lang="en-US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Must</a:t>
            </a: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2225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Mendukung banyak </a:t>
            </a:r>
            <a:r>
              <a:rPr lang="en-US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platform</a:t>
            </a: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Optional</a:t>
            </a: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2225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Aktif 24 jam (Must).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2225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Minim error (Optional).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6278728" y="3703320"/>
            <a:ext cx="5318700" cy="251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6553048" y="3886200"/>
            <a:ext cx="477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Keamanan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6598768" y="4297680"/>
            <a:ext cx="4678500" cy="73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2250" lvl="0" marL="22225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Database memadai &amp; dapat diekspansi (Must).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2225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Keamanan data akun pembeli terjamin (Must).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B1452"/>
          </a:solidFill>
          <a:ln cap="flat" cmpd="sng" w="12700">
            <a:solidFill>
              <a:srgbClr val="8B14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1"/>
          <p:cNvSpPr/>
          <p:nvPr/>
        </p:nvSpPr>
        <p:spPr>
          <a:xfrm>
            <a:off x="594350" y="3"/>
            <a:ext cx="11003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Manajemen Proyek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1"/>
          <p:cNvSpPr/>
          <p:nvPr/>
        </p:nvSpPr>
        <p:spPr>
          <a:xfrm>
            <a:off x="594360" y="310896"/>
            <a:ext cx="1100297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7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DE7F3"/>
                </a:solidFill>
                <a:latin typeface="Calibri"/>
                <a:ea typeface="Calibri"/>
                <a:cs typeface="Calibri"/>
                <a:sym typeface="Calibri"/>
              </a:rPr>
              <a:t>Model proses, organisasi, dan tanggung jawab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1"/>
          <p:cNvSpPr/>
          <p:nvPr/>
        </p:nvSpPr>
        <p:spPr>
          <a:xfrm>
            <a:off x="594360" y="822960"/>
            <a:ext cx="5715000" cy="2560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1"/>
          <p:cNvSpPr/>
          <p:nvPr/>
        </p:nvSpPr>
        <p:spPr>
          <a:xfrm>
            <a:off x="914400" y="100584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Model Proses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1"/>
          <p:cNvSpPr/>
          <p:nvPr/>
        </p:nvSpPr>
        <p:spPr>
          <a:xfrm>
            <a:off x="1005850" y="1417325"/>
            <a:ext cx="5303400" cy="13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2250" lvl="0" marL="22225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Menggunakan SDLC dengan pendekatan V-Model (verifikasi &amp; validasi di setiap fase).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2225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Android Studio digunakan untuk menunjang implementasi aplikasi.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2225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Prioritas manajemen: fitur inti—Katalog Produk, Keranjang Belanja, Checkout.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1"/>
          <p:cNvSpPr/>
          <p:nvPr/>
        </p:nvSpPr>
        <p:spPr>
          <a:xfrm>
            <a:off x="594360" y="3520440"/>
            <a:ext cx="5715000" cy="26974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1"/>
          <p:cNvSpPr/>
          <p:nvPr/>
        </p:nvSpPr>
        <p:spPr>
          <a:xfrm>
            <a:off x="914400" y="370332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Peran Kunci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1"/>
          <p:cNvSpPr/>
          <p:nvPr/>
        </p:nvSpPr>
        <p:spPr>
          <a:xfrm>
            <a:off x="1005840" y="4114800"/>
            <a:ext cx="5303520" cy="1159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2250" lvl="0" marL="22225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Project Manager: koordinasi &amp; keputusan.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2225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System Analyst: analisis kebutuhan &amp; alur sistem.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2225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Database Engineer: rancangan basis data &amp; akses data.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2225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UI/UX Designer: mockup UI/UX &amp; materi presentasi.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1"/>
          <p:cNvSpPr/>
          <p:nvPr/>
        </p:nvSpPr>
        <p:spPr>
          <a:xfrm>
            <a:off x="6537960" y="822960"/>
            <a:ext cx="5074920" cy="5394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1"/>
          <p:cNvSpPr/>
          <p:nvPr/>
        </p:nvSpPr>
        <p:spPr>
          <a:xfrm>
            <a:off x="6812280" y="10058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Struktur Organisasi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data/buildify_imgs/image4.png" id="118" name="Google Shape;11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2375" y="1417320"/>
            <a:ext cx="4168971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1"/>
          <p:cNvSpPr/>
          <p:nvPr/>
        </p:nvSpPr>
        <p:spPr>
          <a:xfrm>
            <a:off x="6812280" y="338328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Catatan: tim terdiri dari 6 orang; pemantauan melalui rapat proyek mingguan &amp; penyimpanan dokumen bersama.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6720850" y="4069075"/>
            <a:ext cx="4709100" cy="16017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1"/>
          <p:cNvSpPr/>
          <p:nvPr/>
        </p:nvSpPr>
        <p:spPr>
          <a:xfrm>
            <a:off x="6903720" y="420624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Risiko &amp; Kendala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1"/>
          <p:cNvSpPr/>
          <p:nvPr/>
        </p:nvSpPr>
        <p:spPr>
          <a:xfrm>
            <a:off x="6903720" y="4572000"/>
            <a:ext cx="4526280" cy="709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06375" lvl="0" marL="206375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Anggaran dan waktu pengerjaan.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6375" lvl="0" marL="206375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Koordinasi lintas peran &amp; dependensi antar tugas.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B1452"/>
          </a:solidFill>
          <a:ln cap="flat" cmpd="sng" w="12700">
            <a:solidFill>
              <a:srgbClr val="8B14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594350" y="3"/>
            <a:ext cx="11003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Modul Utama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594360" y="310896"/>
            <a:ext cx="1100297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7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DE7F3"/>
                </a:solidFill>
                <a:latin typeface="Calibri"/>
                <a:ea typeface="Calibri"/>
                <a:cs typeface="Calibri"/>
                <a:sym typeface="Calibri"/>
              </a:rPr>
              <a:t>Fungsi sistem dibagi ke modul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594360" y="822960"/>
            <a:ext cx="5715000" cy="5394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914400" y="100584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Daftar Modul &amp; Perannya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1005850" y="1417325"/>
            <a:ext cx="5303400" cy="21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2250" lvl="0" marL="22225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Otentikasi &amp; Akun: login, register, logout, profil (Admin/Customer).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2225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Katalog Produk: kategori, pencarian/filter, detail (stok &amp; berat).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2225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Keranjang &amp; Pesanan: tambah/ubah item, checkout, riwayat pesanan.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2225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Pengiriman: hitung ongkir (berat &amp; lokasi), tracking, nomor resi.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2225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Pembayaran: snap token/VA/QR, verifikasi status, update pesanan.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2225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Dashboard Admin: CRUD produk/kategori, verifikasi pesanan, laporan.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6537960" y="822960"/>
            <a:ext cx="5074920" cy="5394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6812280" y="10058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Peta Modul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8" title="paket pekerjaan (modul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4125" y="1721400"/>
            <a:ext cx="5486600" cy="4057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B1452"/>
          </a:solidFill>
          <a:ln cap="flat" cmpd="sng" w="12700">
            <a:solidFill>
              <a:srgbClr val="8B14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594350" y="0"/>
            <a:ext cx="11003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Rancangan Lingkungan Implementasi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594360" y="310896"/>
            <a:ext cx="1100297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7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DE7F3"/>
                </a:solidFill>
                <a:latin typeface="Calibri"/>
                <a:ea typeface="Calibri"/>
                <a:cs typeface="Calibri"/>
                <a:sym typeface="Calibri"/>
              </a:rPr>
              <a:t>Tools, DBMS, dan bahasa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594360" y="822960"/>
            <a:ext cx="11002975" cy="5394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914400" y="1005840"/>
            <a:ext cx="1036289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Ringkasan Teknologi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914400" y="1463040"/>
            <a:ext cx="5044288" cy="448056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1097280" y="1600200"/>
            <a:ext cx="48614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Kebutuhan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1097280" y="1965960"/>
            <a:ext cx="4861408" cy="949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2250" lvl="0" marL="22225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DBMS: MySQL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2225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Backend: PHP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2225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Dokumen &amp; program disimpan di perangkat anggota (harddisk internal)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6233008" y="1463040"/>
            <a:ext cx="5044288" cy="448056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6415888" y="1600200"/>
            <a:ext cx="48614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Tools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6415888" y="1965960"/>
            <a:ext cx="4861408" cy="1159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2250" lvl="0" marL="22225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UML: Draw.io &amp; Visual Paradigm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2225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Desain</a:t>
            </a:r>
            <a:r>
              <a:rPr lang="en-US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mockup</a:t>
            </a: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: Figma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2225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Laporan: Google Docs</a:t>
            </a:r>
            <a:endParaRPr b="0" i="0" sz="14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2225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Presentasi: Google Slides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2225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Perangkat: 6 unit laptop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8B1452"/>
          </a:solidFill>
          <a:ln cap="flat" cmpd="sng" w="12700">
            <a:solidFill>
              <a:srgbClr val="8B14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594350" y="0"/>
            <a:ext cx="11003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Desain Data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594360" y="310896"/>
            <a:ext cx="1100297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7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DE7F3"/>
                </a:solidFill>
                <a:latin typeface="Calibri"/>
                <a:ea typeface="Calibri"/>
                <a:cs typeface="Calibri"/>
                <a:sym typeface="Calibri"/>
              </a:rPr>
              <a:t>Entitas utama &amp; relasi (ERD)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323775" y="822950"/>
            <a:ext cx="11289000" cy="568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2" name="Google Shape;162;p7" title="WhatsApp Image 2026-01-19 at 9.20.56 A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0284" y="843924"/>
            <a:ext cx="9026900" cy="564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B1452"/>
          </a:solidFill>
          <a:ln cap="flat" cmpd="sng" w="12700">
            <a:solidFill>
              <a:srgbClr val="8B14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594350" y="1"/>
            <a:ext cx="11003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Gambaran Sistem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594360" y="310896"/>
            <a:ext cx="1100297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7F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DE7F3"/>
                </a:solidFill>
                <a:latin typeface="Calibri"/>
                <a:ea typeface="Calibri"/>
                <a:cs typeface="Calibri"/>
                <a:sym typeface="Calibri"/>
              </a:rPr>
              <a:t>DFD Level 0 (Context Diagram)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594350" y="822950"/>
            <a:ext cx="11120100" cy="591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9" title="DFD LVL 0 (context diagram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5633" y="901811"/>
            <a:ext cx="7502326" cy="5773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ae6aab287_0_138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8B1452"/>
          </a:solidFill>
          <a:ln cap="flat" cmpd="sng" w="12700">
            <a:solidFill>
              <a:srgbClr val="8B14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bae6aab287_0_138"/>
          <p:cNvSpPr/>
          <p:nvPr/>
        </p:nvSpPr>
        <p:spPr>
          <a:xfrm>
            <a:off x="594350" y="1"/>
            <a:ext cx="11003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Gambaran Sistem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bae6aab287_0_138"/>
          <p:cNvSpPr/>
          <p:nvPr/>
        </p:nvSpPr>
        <p:spPr>
          <a:xfrm>
            <a:off x="594360" y="310896"/>
            <a:ext cx="1100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7F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DE7F3"/>
                </a:solidFill>
                <a:latin typeface="Calibri"/>
                <a:ea typeface="Calibri"/>
                <a:cs typeface="Calibri"/>
                <a:sym typeface="Calibri"/>
              </a:rPr>
              <a:t>DFD Level 1 - Admin mengelola produk dan kategori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bae6aab287_0_138"/>
          <p:cNvSpPr/>
          <p:nvPr/>
        </p:nvSpPr>
        <p:spPr>
          <a:xfrm>
            <a:off x="594350" y="822950"/>
            <a:ext cx="11120100" cy="591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g3bae6aab287_0_138" title="DFD Level 1 1.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232" y="952103"/>
            <a:ext cx="5792300" cy="56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ae6aab287_0_149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8B1452"/>
          </a:solidFill>
          <a:ln cap="flat" cmpd="sng" w="12700">
            <a:solidFill>
              <a:srgbClr val="8B14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bae6aab287_0_149"/>
          <p:cNvSpPr/>
          <p:nvPr/>
        </p:nvSpPr>
        <p:spPr>
          <a:xfrm>
            <a:off x="594350" y="1"/>
            <a:ext cx="11003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Gambaran Sistem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bae6aab287_0_149"/>
          <p:cNvSpPr/>
          <p:nvPr/>
        </p:nvSpPr>
        <p:spPr>
          <a:xfrm>
            <a:off x="594360" y="310896"/>
            <a:ext cx="1100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7F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DE7F3"/>
                </a:solidFill>
                <a:latin typeface="Calibri"/>
                <a:ea typeface="Calibri"/>
                <a:cs typeface="Calibri"/>
                <a:sym typeface="Calibri"/>
              </a:rPr>
              <a:t>DFD Level 1 - Pelanggan melakukan pembelian produk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bae6aab287_0_149"/>
          <p:cNvSpPr/>
          <p:nvPr/>
        </p:nvSpPr>
        <p:spPr>
          <a:xfrm>
            <a:off x="594350" y="822950"/>
            <a:ext cx="11120100" cy="591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g3bae6aab287_0_149" title="DFD Level 1 2.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4013" y="1198637"/>
            <a:ext cx="8943975" cy="501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ae6aab287_0_159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8B1452"/>
          </a:solidFill>
          <a:ln cap="flat" cmpd="sng" w="12700">
            <a:solidFill>
              <a:srgbClr val="8B14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bae6aab287_0_159"/>
          <p:cNvSpPr/>
          <p:nvPr/>
        </p:nvSpPr>
        <p:spPr>
          <a:xfrm>
            <a:off x="594350" y="1"/>
            <a:ext cx="11003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Gambaran Sistem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bae6aab287_0_159"/>
          <p:cNvSpPr/>
          <p:nvPr/>
        </p:nvSpPr>
        <p:spPr>
          <a:xfrm>
            <a:off x="594360" y="310896"/>
            <a:ext cx="1100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7F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DE7F3"/>
                </a:solidFill>
                <a:latin typeface="Calibri"/>
                <a:ea typeface="Calibri"/>
                <a:cs typeface="Calibri"/>
                <a:sym typeface="Calibri"/>
              </a:rPr>
              <a:t>DFD Level 1 - Admin mengkonfirmasi dan memproses pesanan yang diterima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bae6aab287_0_159"/>
          <p:cNvSpPr/>
          <p:nvPr/>
        </p:nvSpPr>
        <p:spPr>
          <a:xfrm>
            <a:off x="594350" y="822950"/>
            <a:ext cx="11120100" cy="591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g3bae6aab287_0_159" title="DFD Level 1 3.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8637" y="885912"/>
            <a:ext cx="6694726" cy="579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bae6aab287_0_189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8B1452"/>
          </a:solidFill>
          <a:ln cap="flat" cmpd="sng" w="12700">
            <a:solidFill>
              <a:srgbClr val="8B14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bae6aab287_0_189"/>
          <p:cNvSpPr/>
          <p:nvPr/>
        </p:nvSpPr>
        <p:spPr>
          <a:xfrm>
            <a:off x="594350" y="1"/>
            <a:ext cx="11003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Gambaran Sistem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bae6aab287_0_189"/>
          <p:cNvSpPr/>
          <p:nvPr/>
        </p:nvSpPr>
        <p:spPr>
          <a:xfrm>
            <a:off x="594360" y="310896"/>
            <a:ext cx="1100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7F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DE7F3"/>
                </a:solidFill>
                <a:latin typeface="Calibri"/>
                <a:ea typeface="Calibri"/>
                <a:cs typeface="Calibri"/>
                <a:sym typeface="Calibri"/>
              </a:rPr>
              <a:t>Activity diagram - Login dan Register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bae6aab287_0_189"/>
          <p:cNvSpPr/>
          <p:nvPr/>
        </p:nvSpPr>
        <p:spPr>
          <a:xfrm>
            <a:off x="594350" y="822950"/>
            <a:ext cx="11120100" cy="591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2" name="Google Shape;212;g3bae6aab287_0_189" title="activity diagram logi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9050" y="630325"/>
            <a:ext cx="3729807" cy="653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3bae6aab287_0_189" title="activity diagram register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5800" y="630325"/>
            <a:ext cx="4378850" cy="641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ae6aab287_0_169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8B1452"/>
          </a:solidFill>
          <a:ln cap="flat" cmpd="sng" w="12700">
            <a:solidFill>
              <a:srgbClr val="8B14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bae6aab287_0_169"/>
          <p:cNvSpPr/>
          <p:nvPr/>
        </p:nvSpPr>
        <p:spPr>
          <a:xfrm>
            <a:off x="594350" y="1"/>
            <a:ext cx="11003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Gambaran Sistem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bae6aab287_0_169"/>
          <p:cNvSpPr/>
          <p:nvPr/>
        </p:nvSpPr>
        <p:spPr>
          <a:xfrm>
            <a:off x="594360" y="310896"/>
            <a:ext cx="1100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7F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DE7F3"/>
                </a:solidFill>
                <a:latin typeface="Calibri"/>
                <a:ea typeface="Calibri"/>
                <a:cs typeface="Calibri"/>
                <a:sym typeface="Calibri"/>
              </a:rPr>
              <a:t>Activity diagram - Admin kelola produk dan kategori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bae6aab287_0_169"/>
          <p:cNvSpPr/>
          <p:nvPr/>
        </p:nvSpPr>
        <p:spPr>
          <a:xfrm>
            <a:off x="594350" y="822950"/>
            <a:ext cx="11120100" cy="591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3" name="Google Shape;223;g3bae6aab287_0_169" title="Activity Diagram Admin Kelola Produk dan Kategori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3926" y="941850"/>
            <a:ext cx="3860951" cy="5494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bae6aab287_0_179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8B1452"/>
          </a:solidFill>
          <a:ln cap="flat" cmpd="sng" w="12700">
            <a:solidFill>
              <a:srgbClr val="8B14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bae6aab287_0_179"/>
          <p:cNvSpPr/>
          <p:nvPr/>
        </p:nvSpPr>
        <p:spPr>
          <a:xfrm>
            <a:off x="594350" y="1"/>
            <a:ext cx="11003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Gambaran Sistem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bae6aab287_0_179"/>
          <p:cNvSpPr/>
          <p:nvPr/>
        </p:nvSpPr>
        <p:spPr>
          <a:xfrm>
            <a:off x="594360" y="310896"/>
            <a:ext cx="1100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7F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DE7F3"/>
                </a:solidFill>
                <a:latin typeface="Calibri"/>
                <a:ea typeface="Calibri"/>
                <a:cs typeface="Calibri"/>
                <a:sym typeface="Calibri"/>
              </a:rPr>
              <a:t>Activity diagram - Edit Profil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bae6aab287_0_179"/>
          <p:cNvSpPr/>
          <p:nvPr/>
        </p:nvSpPr>
        <p:spPr>
          <a:xfrm>
            <a:off x="594350" y="822950"/>
            <a:ext cx="11120100" cy="591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3" name="Google Shape;233;g3bae6aab287_0_179" title="Activity Diagram Edit Profil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9400" y="883312"/>
            <a:ext cx="2370001" cy="5796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bae6aab287_0_200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8B1452"/>
          </a:solidFill>
          <a:ln cap="flat" cmpd="sng" w="12700">
            <a:solidFill>
              <a:srgbClr val="8B14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bae6aab287_0_200"/>
          <p:cNvSpPr/>
          <p:nvPr/>
        </p:nvSpPr>
        <p:spPr>
          <a:xfrm>
            <a:off x="594350" y="1"/>
            <a:ext cx="11003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Gambaran Sistem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bae6aab287_0_200"/>
          <p:cNvSpPr/>
          <p:nvPr/>
        </p:nvSpPr>
        <p:spPr>
          <a:xfrm>
            <a:off x="594360" y="310896"/>
            <a:ext cx="1100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7F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DE7F3"/>
                </a:solidFill>
                <a:latin typeface="Calibri"/>
                <a:ea typeface="Calibri"/>
                <a:cs typeface="Calibri"/>
                <a:sym typeface="Calibri"/>
              </a:rPr>
              <a:t>Activity diagram - Pelanggan checkout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bae6aab287_0_200"/>
          <p:cNvSpPr/>
          <p:nvPr/>
        </p:nvSpPr>
        <p:spPr>
          <a:xfrm>
            <a:off x="594350" y="822950"/>
            <a:ext cx="11120100" cy="591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3" name="Google Shape;243;g3bae6aab287_0_200" title="activity diagram checkout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9825" y="901425"/>
            <a:ext cx="3245725" cy="5770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bae6aab287_0_210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8B1452"/>
          </a:solidFill>
          <a:ln cap="flat" cmpd="sng" w="12700">
            <a:solidFill>
              <a:srgbClr val="8B14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bae6aab287_0_210"/>
          <p:cNvSpPr/>
          <p:nvPr/>
        </p:nvSpPr>
        <p:spPr>
          <a:xfrm>
            <a:off x="594350" y="1"/>
            <a:ext cx="11003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Gambaran Sistem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bae6aab287_0_210"/>
          <p:cNvSpPr/>
          <p:nvPr/>
        </p:nvSpPr>
        <p:spPr>
          <a:xfrm>
            <a:off x="594360" y="310896"/>
            <a:ext cx="1100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7F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DE7F3"/>
                </a:solidFill>
                <a:latin typeface="Calibri"/>
                <a:ea typeface="Calibri"/>
                <a:cs typeface="Calibri"/>
                <a:sym typeface="Calibri"/>
              </a:rPr>
              <a:t>Activity diagram - Admin konfirmasi dan memproses pesanan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bae6aab287_0_210"/>
          <p:cNvSpPr/>
          <p:nvPr/>
        </p:nvSpPr>
        <p:spPr>
          <a:xfrm>
            <a:off x="594350" y="822950"/>
            <a:ext cx="11120100" cy="591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3" name="Google Shape;253;g3bae6aab287_0_210" title="activity diagram proses pemesana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0174" y="867650"/>
            <a:ext cx="3114674" cy="582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b949c46ac8_0_21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8B1452"/>
          </a:solidFill>
          <a:ln cap="flat" cmpd="sng" w="12700">
            <a:solidFill>
              <a:srgbClr val="8B14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b949c46ac8_0_21"/>
          <p:cNvSpPr/>
          <p:nvPr/>
        </p:nvSpPr>
        <p:spPr>
          <a:xfrm>
            <a:off x="594350" y="1"/>
            <a:ext cx="11003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Gambaran Sistem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b949c46ac8_0_21"/>
          <p:cNvSpPr/>
          <p:nvPr/>
        </p:nvSpPr>
        <p:spPr>
          <a:xfrm>
            <a:off x="594360" y="310896"/>
            <a:ext cx="1100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7F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DE7F3"/>
                </a:solidFill>
                <a:latin typeface="Calibri"/>
                <a:ea typeface="Calibri"/>
                <a:cs typeface="Calibri"/>
                <a:sym typeface="Calibri"/>
              </a:rPr>
              <a:t>Sequence diagram - Register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b949c46ac8_0_21"/>
          <p:cNvSpPr/>
          <p:nvPr/>
        </p:nvSpPr>
        <p:spPr>
          <a:xfrm>
            <a:off x="594350" y="822950"/>
            <a:ext cx="11120100" cy="591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3" name="Google Shape;263;g3b949c46ac8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2876" y="2344850"/>
            <a:ext cx="6013175" cy="251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b949c46ac8_0_0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8B1452"/>
          </a:solidFill>
          <a:ln cap="flat" cmpd="sng" w="12700">
            <a:solidFill>
              <a:srgbClr val="8B14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b949c46ac8_0_0"/>
          <p:cNvSpPr/>
          <p:nvPr/>
        </p:nvSpPr>
        <p:spPr>
          <a:xfrm>
            <a:off x="594350" y="1"/>
            <a:ext cx="11003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Gambaran Sistem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b949c46ac8_0_0"/>
          <p:cNvSpPr/>
          <p:nvPr/>
        </p:nvSpPr>
        <p:spPr>
          <a:xfrm>
            <a:off x="594360" y="310896"/>
            <a:ext cx="1100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7F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DE7F3"/>
                </a:solidFill>
                <a:latin typeface="Calibri"/>
                <a:ea typeface="Calibri"/>
                <a:cs typeface="Calibri"/>
                <a:sym typeface="Calibri"/>
              </a:rPr>
              <a:t>Sequence diagram - Login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b949c46ac8_0_0"/>
          <p:cNvSpPr/>
          <p:nvPr/>
        </p:nvSpPr>
        <p:spPr>
          <a:xfrm>
            <a:off x="594350" y="822950"/>
            <a:ext cx="11120100" cy="591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g3b949c46ac8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6478" y="2169053"/>
            <a:ext cx="6800274" cy="32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b949c46ac8_0_10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8B1452"/>
          </a:solidFill>
          <a:ln cap="flat" cmpd="sng" w="12700">
            <a:solidFill>
              <a:srgbClr val="8B14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b949c46ac8_0_10"/>
          <p:cNvSpPr/>
          <p:nvPr/>
        </p:nvSpPr>
        <p:spPr>
          <a:xfrm>
            <a:off x="594350" y="1"/>
            <a:ext cx="11003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Gambaran Sistem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b949c46ac8_0_10"/>
          <p:cNvSpPr/>
          <p:nvPr/>
        </p:nvSpPr>
        <p:spPr>
          <a:xfrm>
            <a:off x="594360" y="310896"/>
            <a:ext cx="1100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7F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DE7F3"/>
                </a:solidFill>
                <a:latin typeface="Calibri"/>
                <a:ea typeface="Calibri"/>
                <a:cs typeface="Calibri"/>
                <a:sym typeface="Calibri"/>
              </a:rPr>
              <a:t>Sequence diagram - Pelanggan checkout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b949c46ac8_0_10"/>
          <p:cNvSpPr/>
          <p:nvPr/>
        </p:nvSpPr>
        <p:spPr>
          <a:xfrm>
            <a:off x="594350" y="822950"/>
            <a:ext cx="11120100" cy="591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3" name="Google Shape;283;g3b949c46ac8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7900" y="1106125"/>
            <a:ext cx="8349298" cy="451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b949c46ac8_0_31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8B1452"/>
          </a:solidFill>
          <a:ln cap="flat" cmpd="sng" w="12700">
            <a:solidFill>
              <a:srgbClr val="8B14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b949c46ac8_0_31"/>
          <p:cNvSpPr/>
          <p:nvPr/>
        </p:nvSpPr>
        <p:spPr>
          <a:xfrm>
            <a:off x="594350" y="1"/>
            <a:ext cx="11003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Gambaran Sistem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b949c46ac8_0_31"/>
          <p:cNvSpPr/>
          <p:nvPr/>
        </p:nvSpPr>
        <p:spPr>
          <a:xfrm>
            <a:off x="594360" y="310896"/>
            <a:ext cx="1100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7F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DE7F3"/>
                </a:solidFill>
                <a:latin typeface="Calibri"/>
                <a:ea typeface="Calibri"/>
                <a:cs typeface="Calibri"/>
                <a:sym typeface="Calibri"/>
              </a:rPr>
              <a:t>Sequence diagram - Pelanggan chat admin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b949c46ac8_0_31"/>
          <p:cNvSpPr/>
          <p:nvPr/>
        </p:nvSpPr>
        <p:spPr>
          <a:xfrm>
            <a:off x="594350" y="822950"/>
            <a:ext cx="11120100" cy="591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3" name="Google Shape;293;g3b949c46ac8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6200" y="2272275"/>
            <a:ext cx="5734050" cy="18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b951407e48_0_0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8B1452"/>
          </a:solidFill>
          <a:ln cap="flat" cmpd="sng" w="12700">
            <a:solidFill>
              <a:srgbClr val="8B14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b951407e48_0_0"/>
          <p:cNvSpPr/>
          <p:nvPr/>
        </p:nvSpPr>
        <p:spPr>
          <a:xfrm>
            <a:off x="594350" y="1"/>
            <a:ext cx="11003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Gambaran Sistem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b951407e48_0_0"/>
          <p:cNvSpPr/>
          <p:nvPr/>
        </p:nvSpPr>
        <p:spPr>
          <a:xfrm>
            <a:off x="594360" y="310896"/>
            <a:ext cx="1100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7F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DE7F3"/>
                </a:solidFill>
                <a:latin typeface="Calibri"/>
                <a:ea typeface="Calibri"/>
                <a:cs typeface="Calibri"/>
                <a:sym typeface="Calibri"/>
              </a:rPr>
              <a:t>Sequence diagram - admin kelola produk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b951407e48_0_0"/>
          <p:cNvSpPr/>
          <p:nvPr/>
        </p:nvSpPr>
        <p:spPr>
          <a:xfrm>
            <a:off x="594350" y="822950"/>
            <a:ext cx="11120100" cy="591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3" name="Google Shape;303;g3b951407e48_0_0" title="frame_kelola_produ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1325" y="1432425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bae6aab287_0_221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8B1452"/>
          </a:solidFill>
          <a:ln cap="flat" cmpd="sng" w="12700">
            <a:solidFill>
              <a:srgbClr val="8B14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bae6aab287_0_221"/>
          <p:cNvSpPr/>
          <p:nvPr/>
        </p:nvSpPr>
        <p:spPr>
          <a:xfrm>
            <a:off x="594350" y="1"/>
            <a:ext cx="11003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Gambaran Sistem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3bae6aab287_0_221"/>
          <p:cNvSpPr/>
          <p:nvPr/>
        </p:nvSpPr>
        <p:spPr>
          <a:xfrm>
            <a:off x="594360" y="310896"/>
            <a:ext cx="1100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7F3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DE7F3"/>
                </a:solidFill>
                <a:latin typeface="Calibri"/>
                <a:ea typeface="Calibri"/>
                <a:cs typeface="Calibri"/>
                <a:sym typeface="Calibri"/>
              </a:rPr>
              <a:t>Class diagram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bae6aab287_0_221"/>
          <p:cNvSpPr/>
          <p:nvPr/>
        </p:nvSpPr>
        <p:spPr>
          <a:xfrm>
            <a:off x="594350" y="822950"/>
            <a:ext cx="11120100" cy="591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3" name="Google Shape;313;g3bae6aab287_0_221" title="class diagra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3837" y="863887"/>
            <a:ext cx="2966075" cy="583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bae6aab287_0_39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8B1452"/>
          </a:solidFill>
          <a:ln cap="flat" cmpd="sng" w="12700">
            <a:solidFill>
              <a:srgbClr val="8B14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bae6aab287_0_39"/>
          <p:cNvSpPr/>
          <p:nvPr/>
        </p:nvSpPr>
        <p:spPr>
          <a:xfrm>
            <a:off x="594350" y="0"/>
            <a:ext cx="11003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Tampilan Awal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3bae6aab287_0_39"/>
          <p:cNvSpPr/>
          <p:nvPr/>
        </p:nvSpPr>
        <p:spPr>
          <a:xfrm>
            <a:off x="594360" y="310896"/>
            <a:ext cx="1100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DE7F3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Splash screen, Login dan Registrasi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bae6aab287_0_39"/>
          <p:cNvSpPr/>
          <p:nvPr/>
        </p:nvSpPr>
        <p:spPr>
          <a:xfrm>
            <a:off x="594350" y="822949"/>
            <a:ext cx="11003100" cy="587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3" name="Google Shape;323;g3bae6aab287_0_39" title="Tampilan Awal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1125" y="979611"/>
            <a:ext cx="2726750" cy="556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g3bae6aab287_0_39" title="Tampilan Login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2026" y="979638"/>
            <a:ext cx="2726750" cy="5564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g3bae6aab287_0_39" title="Tampilan Registrer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02925" y="979652"/>
            <a:ext cx="2726750" cy="5564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bae6aab287_0_18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8B1452"/>
          </a:solidFill>
          <a:ln cap="flat" cmpd="sng" w="12700">
            <a:solidFill>
              <a:srgbClr val="8B14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bae6aab287_0_18"/>
          <p:cNvSpPr/>
          <p:nvPr/>
        </p:nvSpPr>
        <p:spPr>
          <a:xfrm>
            <a:off x="594350" y="0"/>
            <a:ext cx="11003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Tampilan Beranda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3bae6aab287_0_18"/>
          <p:cNvSpPr/>
          <p:nvPr/>
        </p:nvSpPr>
        <p:spPr>
          <a:xfrm>
            <a:off x="594360" y="310896"/>
            <a:ext cx="1100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7F3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menampilkan katalog produk dan kategori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3bae6aab287_0_18"/>
          <p:cNvSpPr/>
          <p:nvPr/>
        </p:nvSpPr>
        <p:spPr>
          <a:xfrm>
            <a:off x="594350" y="822949"/>
            <a:ext cx="11003100" cy="587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5" name="Google Shape;335;g3bae6aab287_0_18" title="Tampilan Berand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1713" y="1079812"/>
            <a:ext cx="2628576" cy="536447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0"/>
              </a:srgbClr>
            </a:outerShdw>
          </a:effec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bae6aab287_0_30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8B1452"/>
          </a:solidFill>
          <a:ln cap="flat" cmpd="sng" w="12700">
            <a:solidFill>
              <a:srgbClr val="8B14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bae6aab287_0_30"/>
          <p:cNvSpPr/>
          <p:nvPr/>
        </p:nvSpPr>
        <p:spPr>
          <a:xfrm>
            <a:off x="594350" y="0"/>
            <a:ext cx="11003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Tampilan Profile (Customer)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3bae6aab287_0_30"/>
          <p:cNvSpPr/>
          <p:nvPr/>
        </p:nvSpPr>
        <p:spPr>
          <a:xfrm>
            <a:off x="594360" y="310896"/>
            <a:ext cx="1100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7F3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mengakses fitur-fitur pengguna dan mengedit data profile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bae6aab287_0_30"/>
          <p:cNvSpPr/>
          <p:nvPr/>
        </p:nvSpPr>
        <p:spPr>
          <a:xfrm>
            <a:off x="594350" y="822949"/>
            <a:ext cx="11003100" cy="587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5" name="Google Shape;345;g3bae6aab287_0_30" title="Tampilan Profil Custome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8875" y="1098325"/>
            <a:ext cx="2610425" cy="532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g3bae6aab287_0_30" title="Edit Profil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1650" y="1098351"/>
            <a:ext cx="2610425" cy="532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0"/>
              </a:srgbClr>
            </a:outerShdw>
          </a:effec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bb66bd232d_4_0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8B1452"/>
          </a:solidFill>
          <a:ln cap="flat" cmpd="sng" w="12700">
            <a:solidFill>
              <a:srgbClr val="8B14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bb66bd232d_4_0"/>
          <p:cNvSpPr/>
          <p:nvPr/>
        </p:nvSpPr>
        <p:spPr>
          <a:xfrm>
            <a:off x="594350" y="0"/>
            <a:ext cx="11003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Tampilan Dikemas dan belum bayar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bb66bd232d_4_0"/>
          <p:cNvSpPr/>
          <p:nvPr/>
        </p:nvSpPr>
        <p:spPr>
          <a:xfrm>
            <a:off x="594360" y="310896"/>
            <a:ext cx="1100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rPr>
              <a:t>pesanan customer telah dikonfirmasi dan sedang dalam proses pengemasan oleh admin sebelum dikirim atau pesanan menggunakan metode pembayaran e-wallet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bb66bd232d_4_0"/>
          <p:cNvSpPr/>
          <p:nvPr/>
        </p:nvSpPr>
        <p:spPr>
          <a:xfrm>
            <a:off x="594350" y="822949"/>
            <a:ext cx="11003100" cy="587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6" name="Google Shape;356;g3bb66bd232d_4_0" title="Dikema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2073" y="1083600"/>
            <a:ext cx="2624875" cy="535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g3bb66bd232d_4_0" title="Belum bayar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0125" y="1083590"/>
            <a:ext cx="2624875" cy="5356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bae6aab287_0_52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8B1452"/>
          </a:solidFill>
          <a:ln cap="flat" cmpd="sng" w="12700">
            <a:solidFill>
              <a:srgbClr val="8B14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bae6aab287_0_52"/>
          <p:cNvSpPr/>
          <p:nvPr/>
        </p:nvSpPr>
        <p:spPr>
          <a:xfrm>
            <a:off x="594350" y="0"/>
            <a:ext cx="11003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Tampilan Detail Produk dan Checkout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g3bae6aab287_0_52"/>
          <p:cNvSpPr/>
          <p:nvPr/>
        </p:nvSpPr>
        <p:spPr>
          <a:xfrm>
            <a:off x="594360" y="310896"/>
            <a:ext cx="1100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7F3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customer dapat membuat pesanan dan memasukkannya ke keranjang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g3bae6aab287_0_52"/>
          <p:cNvSpPr/>
          <p:nvPr/>
        </p:nvSpPr>
        <p:spPr>
          <a:xfrm>
            <a:off x="594350" y="822949"/>
            <a:ext cx="11003100" cy="587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7" name="Google Shape;367;g3bae6aab287_0_52" title="Tampilan Chekout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16500" y="993112"/>
            <a:ext cx="2713550" cy="553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g3bae6aab287_0_52" title="Tampilan Pemesanan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5775" y="993093"/>
            <a:ext cx="2713550" cy="55379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bae6aab287_0_64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8B1452"/>
          </a:solidFill>
          <a:ln cap="flat" cmpd="sng" w="12700">
            <a:solidFill>
              <a:srgbClr val="8B14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bae6aab287_0_64"/>
          <p:cNvSpPr/>
          <p:nvPr/>
        </p:nvSpPr>
        <p:spPr>
          <a:xfrm>
            <a:off x="594350" y="0"/>
            <a:ext cx="11003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Tampilan Riwayat Pesanan dan Ulasan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g3bae6aab287_0_64"/>
          <p:cNvSpPr/>
          <p:nvPr/>
        </p:nvSpPr>
        <p:spPr>
          <a:xfrm>
            <a:off x="594360" y="310896"/>
            <a:ext cx="1100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7F3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Riwayat pesanan dapat dilihat di sini, dan pesanan produk yang sudah diterima dapat diberi ulasan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g3bae6aab287_0_64"/>
          <p:cNvSpPr/>
          <p:nvPr/>
        </p:nvSpPr>
        <p:spPr>
          <a:xfrm>
            <a:off x="594350" y="822949"/>
            <a:ext cx="11003100" cy="587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8" name="Google Shape;378;g3bae6aab287_0_64" title="Tampilan History Pesana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4548" y="961500"/>
            <a:ext cx="2701800" cy="551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g3bae6aab287_0_64" title="Penilaian Produk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8850" y="961506"/>
            <a:ext cx="2701800" cy="5513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bae6aab287_0_76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8B1452"/>
          </a:solidFill>
          <a:ln cap="flat" cmpd="sng" w="12700">
            <a:solidFill>
              <a:srgbClr val="8B14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3bae6aab287_0_76"/>
          <p:cNvSpPr/>
          <p:nvPr/>
        </p:nvSpPr>
        <p:spPr>
          <a:xfrm>
            <a:off x="594350" y="0"/>
            <a:ext cx="11003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Tampilan Profile (Admin)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g3bae6aab287_0_76"/>
          <p:cNvSpPr/>
          <p:nvPr/>
        </p:nvSpPr>
        <p:spPr>
          <a:xfrm>
            <a:off x="594360" y="310896"/>
            <a:ext cx="1100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DE7F3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mengakses fitur-fitur admin dan mengedit data profile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g3bae6aab287_0_76"/>
          <p:cNvSpPr/>
          <p:nvPr/>
        </p:nvSpPr>
        <p:spPr>
          <a:xfrm>
            <a:off x="594350" y="822949"/>
            <a:ext cx="11003100" cy="587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9" name="Google Shape;389;g3bae6aab287_0_76" title="Tampilan Profil Admi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8400" y="1013675"/>
            <a:ext cx="2644003" cy="539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g3bae6aab287_0_76" title="Edit Profil Admin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58092" y="1013675"/>
            <a:ext cx="2644003" cy="539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bae6aab287_0_88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8B1452"/>
          </a:solidFill>
          <a:ln cap="flat" cmpd="sng" w="12700">
            <a:solidFill>
              <a:srgbClr val="8B14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bae6aab287_0_88"/>
          <p:cNvSpPr/>
          <p:nvPr/>
        </p:nvSpPr>
        <p:spPr>
          <a:xfrm>
            <a:off x="594350" y="0"/>
            <a:ext cx="11003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Tampilan Laporan Hasil Penjualan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g3bae6aab287_0_88"/>
          <p:cNvSpPr/>
          <p:nvPr/>
        </p:nvSpPr>
        <p:spPr>
          <a:xfrm>
            <a:off x="594360" y="310896"/>
            <a:ext cx="1100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DE7F3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g3bae6aab287_0_88"/>
          <p:cNvSpPr/>
          <p:nvPr/>
        </p:nvSpPr>
        <p:spPr>
          <a:xfrm>
            <a:off x="594350" y="822949"/>
            <a:ext cx="11003100" cy="587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0" name="Google Shape;400;g3bae6aab287_0_88" title="Tampilan Laporan Hasil Keuanga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3850" y="941338"/>
            <a:ext cx="2764299" cy="564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bae6aab287_0_106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8B1452"/>
          </a:solidFill>
          <a:ln cap="flat" cmpd="sng" w="12700">
            <a:solidFill>
              <a:srgbClr val="8B14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bae6aab287_0_106"/>
          <p:cNvSpPr/>
          <p:nvPr/>
        </p:nvSpPr>
        <p:spPr>
          <a:xfrm>
            <a:off x="594350" y="0"/>
            <a:ext cx="11003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Tampilan Konfirmasi Pesanan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g3bae6aab287_0_106"/>
          <p:cNvSpPr/>
          <p:nvPr/>
        </p:nvSpPr>
        <p:spPr>
          <a:xfrm>
            <a:off x="594360" y="310896"/>
            <a:ext cx="1100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DE7F3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g3bae6aab287_0_106"/>
          <p:cNvSpPr/>
          <p:nvPr/>
        </p:nvSpPr>
        <p:spPr>
          <a:xfrm>
            <a:off x="594350" y="822949"/>
            <a:ext cx="11003100" cy="587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0" name="Google Shape;410;g3bae6aab287_0_106" title="Tampilan Proses pesanan yang masuk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5850" y="822950"/>
            <a:ext cx="2880302" cy="587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bae6aab287_0_114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8B1452"/>
          </a:solidFill>
          <a:ln cap="flat" cmpd="sng" w="12700">
            <a:solidFill>
              <a:srgbClr val="8B14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g3bae6aab287_0_114"/>
          <p:cNvSpPr/>
          <p:nvPr/>
        </p:nvSpPr>
        <p:spPr>
          <a:xfrm>
            <a:off x="594350" y="0"/>
            <a:ext cx="11003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Tampilan Tambah dan Edit Produk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g3bae6aab287_0_114"/>
          <p:cNvSpPr/>
          <p:nvPr/>
        </p:nvSpPr>
        <p:spPr>
          <a:xfrm>
            <a:off x="594360" y="310896"/>
            <a:ext cx="1100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DE7F3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3bae6aab287_0_114"/>
          <p:cNvSpPr/>
          <p:nvPr/>
        </p:nvSpPr>
        <p:spPr>
          <a:xfrm>
            <a:off x="594350" y="822949"/>
            <a:ext cx="11003100" cy="587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0" name="Google Shape;420;g3bae6aab287_0_114" title="Form Tambah Produk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4575" y="1000775"/>
            <a:ext cx="2706588" cy="552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g3bae6aab287_0_114" title="Form Edit Produk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9512" y="1000775"/>
            <a:ext cx="2706589" cy="552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bae6aab287_0_122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8B1452"/>
          </a:solidFill>
          <a:ln cap="flat" cmpd="sng" w="12700">
            <a:solidFill>
              <a:srgbClr val="8B14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bae6aab287_0_122"/>
          <p:cNvSpPr/>
          <p:nvPr/>
        </p:nvSpPr>
        <p:spPr>
          <a:xfrm>
            <a:off x="594350" y="0"/>
            <a:ext cx="110031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Tampilan Tambah dan Edit Kategori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g3bae6aab287_0_122"/>
          <p:cNvSpPr/>
          <p:nvPr/>
        </p:nvSpPr>
        <p:spPr>
          <a:xfrm>
            <a:off x="594360" y="310896"/>
            <a:ext cx="1100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DE7F3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g3bae6aab287_0_122"/>
          <p:cNvSpPr/>
          <p:nvPr/>
        </p:nvSpPr>
        <p:spPr>
          <a:xfrm>
            <a:off x="594350" y="822949"/>
            <a:ext cx="11003100" cy="587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1" name="Google Shape;431;g3bae6aab287_0_122" title="Form Tambah Kategor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1075" y="1157700"/>
            <a:ext cx="2600847" cy="530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g3bae6aab287_0_122" title="Form Edit Kategori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24701" y="1157700"/>
            <a:ext cx="2600846" cy="530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8B1452"/>
          </a:solidFill>
          <a:ln cap="flat" cmpd="sng" w="12700">
            <a:solidFill>
              <a:srgbClr val="8B14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3"/>
          <p:cNvSpPr/>
          <p:nvPr/>
        </p:nvSpPr>
        <p:spPr>
          <a:xfrm>
            <a:off x="594350" y="2"/>
            <a:ext cx="11003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Pengujian &amp; Penutup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3"/>
          <p:cNvSpPr/>
          <p:nvPr/>
        </p:nvSpPr>
        <p:spPr>
          <a:xfrm>
            <a:off x="594360" y="310896"/>
            <a:ext cx="11002975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E7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DE7F3"/>
                </a:solidFill>
                <a:latin typeface="Calibri"/>
                <a:ea typeface="Calibri"/>
                <a:cs typeface="Calibri"/>
                <a:sym typeface="Calibri"/>
              </a:rPr>
              <a:t>Lingkungan uji, cakupan, dan hasil ringkas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594360" y="822960"/>
            <a:ext cx="5989320" cy="5394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3"/>
          <p:cNvSpPr/>
          <p:nvPr/>
        </p:nvSpPr>
        <p:spPr>
          <a:xfrm>
            <a:off x="914400" y="10058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Lingkungan &amp; Prosedur Uji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3"/>
          <p:cNvSpPr/>
          <p:nvPr/>
        </p:nvSpPr>
        <p:spPr>
          <a:xfrm>
            <a:off x="1005850" y="1417327"/>
            <a:ext cx="5486400" cy="1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2250" lvl="0" marL="22225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Android Studio/adb, emulator/perangkat Android 10+, backend API + MySQL.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2225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Alat bantu uji API: Postman/Insomnia; log: logcat.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2225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Pelaksanaan: jalankan test case, catat hasil, bukti (screenshot/log), dan defect.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3"/>
          <p:cNvSpPr/>
          <p:nvPr/>
        </p:nvSpPr>
        <p:spPr>
          <a:xfrm>
            <a:off x="708650" y="3724874"/>
            <a:ext cx="5760600" cy="19167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3"/>
          <p:cNvSpPr/>
          <p:nvPr/>
        </p:nvSpPr>
        <p:spPr>
          <a:xfrm>
            <a:off x="1097280" y="4114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Cakupan Uji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3"/>
          <p:cNvSpPr/>
          <p:nvPr/>
        </p:nvSpPr>
        <p:spPr>
          <a:xfrm>
            <a:off x="1097280" y="4434840"/>
            <a:ext cx="5486400" cy="514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06375" lvl="0" marL="206375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Autentikasi, katalog produk, keranjang, checkout &amp; ongkir, pembayaran, tracking, mode admin, keamanan &amp; kinerja.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6720840" y="822960"/>
            <a:ext cx="4892040" cy="5394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2700000" dist="19050">
              <a:srgbClr val="000000">
                <a:alpha val="11764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3"/>
          <p:cNvSpPr/>
          <p:nvPr/>
        </p:nvSpPr>
        <p:spPr>
          <a:xfrm>
            <a:off x="6995160" y="1005840"/>
            <a:ext cx="4343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Hasil Ringkas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3"/>
          <p:cNvSpPr/>
          <p:nvPr/>
        </p:nvSpPr>
        <p:spPr>
          <a:xfrm>
            <a:off x="6995160" y="1417320"/>
            <a:ext cx="4343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Berdasarkan dokumen STD, seluruh butir uji pelanggan &amp; admin dinyatakan sesuai.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3"/>
          <p:cNvSpPr/>
          <p:nvPr/>
        </p:nvSpPr>
        <p:spPr>
          <a:xfrm>
            <a:off x="6995160" y="2148840"/>
            <a:ext cx="4343400" cy="251460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 cap="flat" cmpd="sng" w="12700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3"/>
          <p:cNvSpPr/>
          <p:nvPr/>
        </p:nvSpPr>
        <p:spPr>
          <a:xfrm>
            <a:off x="7178040" y="2331720"/>
            <a:ext cx="397764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Fokus pengujian: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Register, login, logout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Katalog &amp; detail produk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Keranjang &amp; checkout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Ongkir &amp; tracking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Pembayaran</a:t>
            </a:r>
            <a:endParaRPr sz="1300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• CRUD produk/kategori (Admin)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3"/>
          <p:cNvSpPr/>
          <p:nvPr/>
        </p:nvSpPr>
        <p:spPr>
          <a:xfrm>
            <a:off x="6995160" y="5010912"/>
            <a:ext cx="4343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Terima kasih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2026-01-05T11:54:29Z</dcterms:created>
  <dc:creator>PptxGenJS</dc:creator>
</cp:coreProperties>
</file>